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BF212C-295F-D2E3-27A0-559AF7FA1A07}" v="48" dt="2025-12-01T17:02:48.7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n example of a molecular structure">
            <a:extLst>
              <a:ext uri="{FF2B5EF4-FFF2-40B4-BE49-F238E27FC236}">
                <a16:creationId xmlns:a16="http://schemas.microsoft.com/office/drawing/2014/main" id="{CE528467-F8AE-1C8E-C714-404952FD4A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88" b="-1"/>
          <a:stretch>
            <a:fillRect/>
          </a:stretch>
        </p:blipFill>
        <p:spPr>
          <a:xfrm>
            <a:off x="20" y="-7619"/>
            <a:ext cx="9143979" cy="6887364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4D60F200-5EB0-B223-2439-C96C67F0F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620"/>
            <a:ext cx="4174944" cy="6887364"/>
          </a:xfrm>
          <a:prstGeom prst="rect">
            <a:avLst/>
          </a:prstGeom>
          <a:gradFill flip="none" rotWithShape="1">
            <a:gsLst>
              <a:gs pos="21000">
                <a:srgbClr val="000000">
                  <a:alpha val="62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4067CD3-146F-6228-E362-39AA720C2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08502" y="1500874"/>
            <a:ext cx="6887365" cy="3870356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91000"/>
                </a:schemeClr>
              </a:gs>
              <a:gs pos="83000">
                <a:schemeClr val="accent5">
                  <a:alpha val="0"/>
                </a:schemeClr>
              </a:gs>
            </a:gsLst>
            <a:lin ang="51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71C7E5C-A0F8-E9FA-56DB-31A257FD4E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7648"/>
            <a:ext cx="1559634" cy="6865647"/>
          </a:xfrm>
          <a:prstGeom prst="rect">
            <a:avLst/>
          </a:prstGeom>
          <a:gradFill flip="none" rotWithShape="1">
            <a:gsLst>
              <a:gs pos="5000">
                <a:schemeClr val="accent5"/>
              </a:gs>
              <a:gs pos="49000">
                <a:schemeClr val="accent5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3F70A3C-4474-2A39-470C-FD55A88375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780082" y="3068761"/>
            <a:ext cx="3378495" cy="378923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60000">
                <a:schemeClr val="accent5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C3F7D4-9613-0E1F-901C-98FE831DE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580917" y="-6485"/>
            <a:ext cx="2570370" cy="6879745"/>
          </a:xfrm>
          <a:prstGeom prst="rect">
            <a:avLst/>
          </a:prstGeom>
          <a:gradFill flip="none" rotWithShape="1">
            <a:gsLst>
              <a:gs pos="5000">
                <a:schemeClr val="accent2"/>
              </a:gs>
              <a:gs pos="49000">
                <a:schemeClr val="accent5">
                  <a:lumMod val="60000"/>
                  <a:lumOff val="40000"/>
                  <a:alpha val="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D5167C-AF48-26F0-7A9F-3F7643374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738276" y="464574"/>
            <a:ext cx="3682024" cy="9158579"/>
          </a:xfrm>
          <a:prstGeom prst="rect">
            <a:avLst/>
          </a:prstGeom>
          <a:gradFill>
            <a:gsLst>
              <a:gs pos="0">
                <a:schemeClr val="accent5"/>
              </a:gs>
              <a:gs pos="65000">
                <a:schemeClr val="accent2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7B30A01-FCA8-86A5-A840-C32A3BE2E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4" y="-7639"/>
            <a:ext cx="3659866" cy="6887373"/>
          </a:xfrm>
          <a:prstGeom prst="rect">
            <a:avLst/>
          </a:prstGeom>
          <a:gradFill>
            <a:gsLst>
              <a:gs pos="0">
                <a:schemeClr val="accent2">
                  <a:alpha val="70000"/>
                </a:schemeClr>
              </a:gs>
              <a:gs pos="44000">
                <a:schemeClr val="accent5">
                  <a:lumMod val="60000"/>
                  <a:lumOff val="40000"/>
                  <a:alpha val="0"/>
                </a:schemeClr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4271" y="2155188"/>
            <a:ext cx="3120174" cy="2839273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</a:rPr>
              <a:t>Molecular Property Prediction with Graph Neural Networks on ESOL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4271" y="5166367"/>
            <a:ext cx="3120174" cy="850998"/>
          </a:xfrm>
        </p:spPr>
        <p:txBody>
          <a:bodyPr>
            <a:normAutofit/>
          </a:bodyPr>
          <a:lstStyle/>
          <a:p>
            <a:pPr algn="l"/>
            <a:r>
              <a:rPr lang="en-US" sz="1700">
                <a:solidFill>
                  <a:srgbClr val="FFFFFF"/>
                </a:solidFill>
              </a:rPr>
              <a:t>CS 548 – GNN Project Report</a:t>
            </a:r>
          </a:p>
          <a:p>
            <a:pPr algn="l"/>
            <a:r>
              <a:rPr lang="en-US" sz="1700">
                <a:solidFill>
                  <a:srgbClr val="FFFFFF"/>
                </a:solidFill>
              </a:rPr>
              <a:t>Presenter: Angel Daniel Colón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AF6CB648-9554-488A-B457-99CAAD1DA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3ADCBE7-9330-1CDA-00EB-CDD12DB722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90"/>
            <a:ext cx="9143999" cy="1733407"/>
          </a:xfrm>
          <a:prstGeom prst="rect">
            <a:avLst/>
          </a:prstGeom>
          <a:ln>
            <a:noFill/>
          </a:ln>
          <a:effectLst>
            <a:outerShdw blurRad="254000" dist="38100" dir="546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1" y="240241"/>
            <a:ext cx="8070041" cy="1228299"/>
          </a:xfrm>
        </p:spPr>
        <p:txBody>
          <a:bodyPr>
            <a:normAutofit/>
          </a:bodyPr>
          <a:lstStyle/>
          <a:p>
            <a:r>
              <a:rPr lang="en-US" sz="3500"/>
              <a:t>DATA USED – ESOL SOLUBILITY BENCHMARK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321476"/>
            <a:ext cx="3648656" cy="3850724"/>
          </a:xfrm>
        </p:spPr>
        <p:txBody>
          <a:bodyPr anchor="ctr">
            <a:normAutofit/>
          </a:bodyPr>
          <a:lstStyle/>
          <a:p>
            <a:r>
              <a:rPr lang="en-US" sz="1700"/>
              <a:t>Primary dataset: ESOL, a curated benchmark of aqueous solubilities (logS).</a:t>
            </a:r>
          </a:p>
          <a:p>
            <a:r>
              <a:rPr lang="en-US" sz="1700"/>
              <a:t>Size: 1128 drug-like organic molecules.</a:t>
            </a:r>
          </a:p>
          <a:p>
            <a:r>
              <a:rPr lang="en-US" sz="1700"/>
              <a:t>Target: log10 solubility in mol/L (more negative = less soluble).</a:t>
            </a:r>
          </a:p>
          <a:p>
            <a:r>
              <a:rPr lang="en-US" sz="1700"/>
              <a:t>Molecules represented as SMILES and converted to molecular graphs with RDKit.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757737" y="2809880"/>
          <a:ext cx="3883656" cy="28306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5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4810">
                <a:tc>
                  <a:txBody>
                    <a:bodyPr/>
                    <a:lstStyle/>
                    <a:p>
                      <a:r>
                        <a:rPr lang="en-US" sz="2000"/>
                        <a:t>Field</a:t>
                      </a:r>
                    </a:p>
                  </a:txBody>
                  <a:tcPr marL="101093" marR="101093" marT="50546" marB="50546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Value</a:t>
                      </a:r>
                    </a:p>
                  </a:txBody>
                  <a:tcPr marL="101093" marR="101093" marT="50546" marB="5054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810">
                <a:tc>
                  <a:txBody>
                    <a:bodyPr/>
                    <a:lstStyle/>
                    <a:p>
                      <a:r>
                        <a:rPr lang="en-US" sz="2000"/>
                        <a:t>Dataset</a:t>
                      </a:r>
                    </a:p>
                  </a:txBody>
                  <a:tcPr marL="101093" marR="101093" marT="50546" marB="50546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ESOL</a:t>
                      </a:r>
                    </a:p>
                  </a:txBody>
                  <a:tcPr marL="101093" marR="101093" marT="50546" marB="5054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8088">
                <a:tc>
                  <a:txBody>
                    <a:bodyPr/>
                    <a:lstStyle/>
                    <a:p>
                      <a:r>
                        <a:rPr lang="en-US" sz="2000"/>
                        <a:t># Molecules</a:t>
                      </a:r>
                    </a:p>
                  </a:txBody>
                  <a:tcPr marL="101093" marR="101093" marT="50546" marB="50546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1128</a:t>
                      </a:r>
                    </a:p>
                  </a:txBody>
                  <a:tcPr marL="101093" marR="101093" marT="50546" marB="5054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810">
                <a:tc>
                  <a:txBody>
                    <a:bodyPr/>
                    <a:lstStyle/>
                    <a:p>
                      <a:r>
                        <a:rPr lang="en-US" sz="2000"/>
                        <a:t>Target</a:t>
                      </a:r>
                    </a:p>
                  </a:txBody>
                  <a:tcPr marL="101093" marR="101093" marT="50546" marB="50546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logS (log10 mol/L)</a:t>
                      </a:r>
                    </a:p>
                  </a:txBody>
                  <a:tcPr marL="101093" marR="101093" marT="50546" marB="5054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8088">
                <a:tc>
                  <a:txBody>
                    <a:bodyPr/>
                    <a:lstStyle/>
                    <a:p>
                      <a:r>
                        <a:rPr lang="en-US" sz="2000"/>
                        <a:t>Domain</a:t>
                      </a:r>
                    </a:p>
                  </a:txBody>
                  <a:tcPr marL="101093" marR="101093" marT="50546" marB="50546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Small drug-like molecules</a:t>
                      </a:r>
                    </a:p>
                  </a:txBody>
                  <a:tcPr marL="101093" marR="101093" marT="50546" marB="5054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GOAL OF THE PROJECT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700"/>
              <a:t>Main question: How well do graph neural networks (GNNs) predict ESOL solubility compared to classical fingerprint-based models?</a:t>
            </a:r>
          </a:p>
          <a:p>
            <a:pPr>
              <a:lnSpc>
                <a:spcPct val="90000"/>
              </a:lnSpc>
            </a:pPr>
            <a:r>
              <a:rPr lang="en-US" sz="2700"/>
              <a:t>Models compared: Ridge regression and Random Forest on Morgan fingerprints; GIN and MPNN on molecular graphs.</a:t>
            </a:r>
          </a:p>
          <a:p>
            <a:pPr>
              <a:lnSpc>
                <a:spcPct val="90000"/>
              </a:lnSpc>
            </a:pPr>
            <a:r>
              <a:rPr lang="en-US" sz="2700"/>
              <a:t>Broader goal: Build a reproducible pipeline that can serve as a template for future molecular GNN studies.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100">
                <a:solidFill>
                  <a:srgbClr val="FFFFFF"/>
                </a:solidFill>
              </a:rPr>
              <a:t>TRAIN–TEST SPLITS – RANDOM VS. SCAFFOLD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700"/>
              <a:t>Partitioning ratio: ~80 / 10 / 10 (Train / Validation / Test).</a:t>
            </a:r>
          </a:p>
          <a:p>
            <a:pPr>
              <a:lnSpc>
                <a:spcPct val="90000"/>
              </a:lnSpc>
            </a:pPr>
            <a:r>
              <a:rPr lang="en-US" sz="2700"/>
              <a:t>Random split: molecules assigned i.i.d. to train/val/test; similar molecules can appear in both sets.</a:t>
            </a:r>
          </a:p>
          <a:p>
            <a:pPr>
              <a:lnSpc>
                <a:spcPct val="90000"/>
              </a:lnSpc>
            </a:pPr>
            <a:r>
              <a:rPr lang="en-US" sz="2700"/>
              <a:t>Scaffold split (Bemis–Murcko): molecules grouped by core ring scaffold; entire scaffolds assigned to train/val/test.</a:t>
            </a:r>
          </a:p>
          <a:p>
            <a:pPr>
              <a:lnSpc>
                <a:spcPct val="90000"/>
              </a:lnSpc>
            </a:pPr>
            <a:r>
              <a:rPr lang="en-US" sz="2700"/>
              <a:t>Scaffold split creates a harder but more realistic generalization setting: test scaffolds are unseen during training.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812" y="365125"/>
            <a:ext cx="8375585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5059" y="586822"/>
            <a:ext cx="2670189" cy="164592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/>
              <a:t>RESULTS – OVERALL PERFORMANCE ON ESOL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806" y="1057739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99776" y="1402924"/>
            <a:ext cx="1463040" cy="1371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13373" y="586822"/>
            <a:ext cx="4501977" cy="1645920"/>
          </a:xfrm>
        </p:spPr>
        <p:txBody>
          <a:bodyPr anchor="ctr">
            <a:normAutofit/>
          </a:bodyPr>
          <a:lstStyle/>
          <a:p>
            <a:r>
              <a:rPr lang="en-US" sz="1600"/>
              <a:t>We compare test MAE/RMSE for all four models under random and scaffold splits.</a:t>
            </a:r>
          </a:p>
          <a:p>
            <a:r>
              <a:rPr lang="en-US" sz="1600"/>
              <a:t>GIN achieves the best performance, especially on the scaffold split.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7782" y="2734056"/>
          <a:ext cx="7914734" cy="34838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3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36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36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18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18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20736">
                <a:tc>
                  <a:txBody>
                    <a:bodyPr/>
                    <a:lstStyle/>
                    <a:p>
                      <a:r>
                        <a:rPr lang="en-US" sz="2400"/>
                        <a:t>Model</a:t>
                      </a:r>
                    </a:p>
                  </a:txBody>
                  <a:tcPr marL="124424" marR="124424" marT="62212" marB="62212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Random MAE</a:t>
                      </a:r>
                    </a:p>
                  </a:txBody>
                  <a:tcPr marL="124424" marR="124424" marT="62212" marB="62212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Random RMSE</a:t>
                      </a:r>
                    </a:p>
                  </a:txBody>
                  <a:tcPr marL="124424" marR="124424" marT="62212" marB="62212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Scaffold MAE</a:t>
                      </a:r>
                    </a:p>
                  </a:txBody>
                  <a:tcPr marL="124424" marR="124424" marT="62212" marB="62212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Scaffold RMSE</a:t>
                      </a:r>
                    </a:p>
                  </a:txBody>
                  <a:tcPr marL="124424" marR="124424" marT="62212" marB="6221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465">
                <a:tc>
                  <a:txBody>
                    <a:bodyPr/>
                    <a:lstStyle/>
                    <a:p>
                      <a:r>
                        <a:rPr lang="en-US" sz="2400"/>
                        <a:t>Ridge</a:t>
                      </a:r>
                    </a:p>
                  </a:txBody>
                  <a:tcPr marL="124424" marR="124424" marT="62212" marB="62212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2.78</a:t>
                      </a:r>
                    </a:p>
                  </a:txBody>
                  <a:tcPr marL="124424" marR="124424" marT="62212" marB="62212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3.78</a:t>
                      </a:r>
                    </a:p>
                  </a:txBody>
                  <a:tcPr marL="124424" marR="124424" marT="62212" marB="62212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3.30</a:t>
                      </a:r>
                    </a:p>
                  </a:txBody>
                  <a:tcPr marL="124424" marR="124424" marT="62212" marB="62212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4.51</a:t>
                      </a:r>
                    </a:p>
                  </a:txBody>
                  <a:tcPr marL="124424" marR="124424" marT="62212" marB="6221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0736">
                <a:tc>
                  <a:txBody>
                    <a:bodyPr/>
                    <a:lstStyle/>
                    <a:p>
                      <a:r>
                        <a:rPr lang="en-US" sz="2400"/>
                        <a:t>Random Forest</a:t>
                      </a:r>
                    </a:p>
                  </a:txBody>
                  <a:tcPr marL="124424" marR="124424" marT="62212" marB="62212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0.90</a:t>
                      </a:r>
                    </a:p>
                  </a:txBody>
                  <a:tcPr marL="124424" marR="124424" marT="62212" marB="62212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1.19</a:t>
                      </a:r>
                    </a:p>
                  </a:txBody>
                  <a:tcPr marL="124424" marR="124424" marT="62212" marB="62212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1.29</a:t>
                      </a:r>
                    </a:p>
                  </a:txBody>
                  <a:tcPr marL="124424" marR="124424" marT="62212" marB="62212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1.72</a:t>
                      </a:r>
                    </a:p>
                  </a:txBody>
                  <a:tcPr marL="124424" marR="124424" marT="62212" marB="6221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7465">
                <a:tc>
                  <a:txBody>
                    <a:bodyPr/>
                    <a:lstStyle/>
                    <a:p>
                      <a:r>
                        <a:rPr lang="en-US" sz="2400"/>
                        <a:t>GIN</a:t>
                      </a:r>
                    </a:p>
                  </a:txBody>
                  <a:tcPr marL="124424" marR="124424" marT="62212" marB="62212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0.74</a:t>
                      </a:r>
                    </a:p>
                  </a:txBody>
                  <a:tcPr marL="124424" marR="124424" marT="62212" marB="62212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0.97</a:t>
                      </a:r>
                    </a:p>
                  </a:txBody>
                  <a:tcPr marL="124424" marR="124424" marT="62212" marB="62212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0.99</a:t>
                      </a:r>
                    </a:p>
                  </a:txBody>
                  <a:tcPr marL="124424" marR="124424" marT="62212" marB="62212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1.25</a:t>
                      </a:r>
                    </a:p>
                  </a:txBody>
                  <a:tcPr marL="124424" marR="124424" marT="62212" marB="6221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7465">
                <a:tc>
                  <a:txBody>
                    <a:bodyPr/>
                    <a:lstStyle/>
                    <a:p>
                      <a:r>
                        <a:rPr lang="en-US" sz="2400"/>
                        <a:t>MPNN</a:t>
                      </a:r>
                    </a:p>
                  </a:txBody>
                  <a:tcPr marL="124424" marR="124424" marT="62212" marB="62212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1.54</a:t>
                      </a:r>
                    </a:p>
                  </a:txBody>
                  <a:tcPr marL="124424" marR="124424" marT="62212" marB="62212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1.95</a:t>
                      </a:r>
                    </a:p>
                  </a:txBody>
                  <a:tcPr marL="124424" marR="124424" marT="62212" marB="62212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1.71</a:t>
                      </a:r>
                    </a:p>
                  </a:txBody>
                  <a:tcPr marL="124424" marR="124424" marT="62212" marB="62212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2.21</a:t>
                      </a:r>
                    </a:p>
                  </a:txBody>
                  <a:tcPr marL="124424" marR="124424" marT="62212" marB="62212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4438" y="501651"/>
            <a:ext cx="3326040" cy="1716255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/>
              <a:t>RESULTS – DEPTH &amp; ABLATIONS (GIN VS. MPNN)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ABDEAA-B248-4182-B67C-A925338E7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256" y="252743"/>
            <a:ext cx="3554714" cy="304261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4" name="Picture 3" descr="esol_scaffold_depth_m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918" y="539762"/>
            <a:ext cx="3095388" cy="2468573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9086" y="3548095"/>
            <a:ext cx="3554715" cy="304261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4437" y="2645922"/>
            <a:ext cx="3326041" cy="3710427"/>
          </a:xfrm>
        </p:spPr>
        <p:txBody>
          <a:bodyPr anchor="t">
            <a:normAutofit/>
          </a:bodyPr>
          <a:lstStyle/>
          <a:p>
            <a:r>
              <a:rPr lang="en-US" sz="1700"/>
              <a:t>We probed depth (number of GNN layers) and regularization (dropout, weight decay).</a:t>
            </a:r>
          </a:p>
          <a:p>
            <a:r>
              <a:rPr lang="en-US" sz="1700"/>
              <a:t>GIN prefers moderate depth (4–6 layers) on the scaffold split; too shallow underfits, too deep overfits.</a:t>
            </a:r>
          </a:p>
          <a:p>
            <a:r>
              <a:rPr lang="en-US" sz="1700"/>
              <a:t>Non-trivial dropout and weight decay improve robustness; MPNN is more sensitive and less stable.</a:t>
            </a:r>
          </a:p>
          <a:p>
            <a:r>
              <a:rPr lang="en-US" sz="1700"/>
              <a:t>See depth and ablation plots for GIN and MPNN on ESOL.</a:t>
            </a:r>
          </a:p>
        </p:txBody>
      </p:sp>
      <p:pic>
        <p:nvPicPr>
          <p:cNvPr id="5" name="Picture 4" descr="esol_scaffold_depth_rm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749" y="3835114"/>
            <a:ext cx="3095388" cy="2468573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89621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D75A5B51-0925-4835-8511-A0DD17EAA9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544" y="346232"/>
            <a:ext cx="3177774" cy="2063808"/>
          </a:xfrm>
        </p:spPr>
        <p:txBody>
          <a:bodyPr anchor="b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3300" dirty="0"/>
              <a:t>RESULTS – INTERPRETABILITY (EMBEDDINGS &amp; SUBSTRUCTURES)</a:t>
            </a: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5CDFD20D-8E4F-4E3A-AF87-93F23E0D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2650181"/>
            <a:ext cx="3257550" cy="18288"/>
          </a:xfrm>
          <a:custGeom>
            <a:avLst/>
            <a:gdLst>
              <a:gd name="csX0" fmla="*/ 0 w 3257550"/>
              <a:gd name="csY0" fmla="*/ 0 h 18288"/>
              <a:gd name="csX1" fmla="*/ 618935 w 3257550"/>
              <a:gd name="csY1" fmla="*/ 0 h 18288"/>
              <a:gd name="csX2" fmla="*/ 1270445 w 3257550"/>
              <a:gd name="csY2" fmla="*/ 0 h 18288"/>
              <a:gd name="csX3" fmla="*/ 1954530 w 3257550"/>
              <a:gd name="csY3" fmla="*/ 0 h 18288"/>
              <a:gd name="csX4" fmla="*/ 2638616 w 3257550"/>
              <a:gd name="csY4" fmla="*/ 0 h 18288"/>
              <a:gd name="csX5" fmla="*/ 3257550 w 3257550"/>
              <a:gd name="csY5" fmla="*/ 0 h 18288"/>
              <a:gd name="csX6" fmla="*/ 3257550 w 3257550"/>
              <a:gd name="csY6" fmla="*/ 18288 h 18288"/>
              <a:gd name="csX7" fmla="*/ 2540889 w 3257550"/>
              <a:gd name="csY7" fmla="*/ 18288 h 18288"/>
              <a:gd name="csX8" fmla="*/ 1824228 w 3257550"/>
              <a:gd name="csY8" fmla="*/ 18288 h 18288"/>
              <a:gd name="csX9" fmla="*/ 1172718 w 3257550"/>
              <a:gd name="csY9" fmla="*/ 18288 h 18288"/>
              <a:gd name="csX10" fmla="*/ 0 w 3257550"/>
              <a:gd name="csY10" fmla="*/ 18288 h 18288"/>
              <a:gd name="csX11" fmla="*/ 0 w 3257550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7550" h="18288" fill="none" extrusionOk="0">
                <a:moveTo>
                  <a:pt x="0" y="0"/>
                </a:moveTo>
                <a:cubicBezTo>
                  <a:pt x="222571" y="-4581"/>
                  <a:pt x="395946" y="-20429"/>
                  <a:pt x="618935" y="0"/>
                </a:cubicBezTo>
                <a:cubicBezTo>
                  <a:pt x="841925" y="20429"/>
                  <a:pt x="1064831" y="-497"/>
                  <a:pt x="1270445" y="0"/>
                </a:cubicBezTo>
                <a:cubicBezTo>
                  <a:pt x="1476059" y="497"/>
                  <a:pt x="1673547" y="428"/>
                  <a:pt x="1954530" y="0"/>
                </a:cubicBezTo>
                <a:cubicBezTo>
                  <a:pt x="2235513" y="-428"/>
                  <a:pt x="2452407" y="27906"/>
                  <a:pt x="2638616" y="0"/>
                </a:cubicBezTo>
                <a:cubicBezTo>
                  <a:pt x="2824825" y="-27906"/>
                  <a:pt x="3043878" y="-22618"/>
                  <a:pt x="3257550" y="0"/>
                </a:cubicBezTo>
                <a:cubicBezTo>
                  <a:pt x="3256841" y="8157"/>
                  <a:pt x="3257137" y="12125"/>
                  <a:pt x="3257550" y="18288"/>
                </a:cubicBezTo>
                <a:cubicBezTo>
                  <a:pt x="2955505" y="29918"/>
                  <a:pt x="2697243" y="41720"/>
                  <a:pt x="2540889" y="18288"/>
                </a:cubicBezTo>
                <a:cubicBezTo>
                  <a:pt x="2384535" y="-5144"/>
                  <a:pt x="2114539" y="6231"/>
                  <a:pt x="1824228" y="18288"/>
                </a:cubicBezTo>
                <a:cubicBezTo>
                  <a:pt x="1533917" y="30345"/>
                  <a:pt x="1462450" y="24037"/>
                  <a:pt x="1172718" y="18288"/>
                </a:cubicBezTo>
                <a:cubicBezTo>
                  <a:pt x="882986" y="12540"/>
                  <a:pt x="500637" y="24492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7550" h="18288" stroke="0" extrusionOk="0">
                <a:moveTo>
                  <a:pt x="0" y="0"/>
                </a:moveTo>
                <a:cubicBezTo>
                  <a:pt x="278434" y="16845"/>
                  <a:pt x="441207" y="-24568"/>
                  <a:pt x="618935" y="0"/>
                </a:cubicBezTo>
                <a:cubicBezTo>
                  <a:pt x="796663" y="24568"/>
                  <a:pt x="985120" y="5689"/>
                  <a:pt x="1172718" y="0"/>
                </a:cubicBezTo>
                <a:cubicBezTo>
                  <a:pt x="1360316" y="-5689"/>
                  <a:pt x="1666432" y="29765"/>
                  <a:pt x="1889379" y="0"/>
                </a:cubicBezTo>
                <a:cubicBezTo>
                  <a:pt x="2112326" y="-29765"/>
                  <a:pt x="2378171" y="13184"/>
                  <a:pt x="2508314" y="0"/>
                </a:cubicBezTo>
                <a:cubicBezTo>
                  <a:pt x="2638457" y="-13184"/>
                  <a:pt x="2897393" y="-18048"/>
                  <a:pt x="3257550" y="0"/>
                </a:cubicBezTo>
                <a:cubicBezTo>
                  <a:pt x="3257286" y="4493"/>
                  <a:pt x="3257934" y="9472"/>
                  <a:pt x="3257550" y="18288"/>
                </a:cubicBezTo>
                <a:cubicBezTo>
                  <a:pt x="3005417" y="4399"/>
                  <a:pt x="2789824" y="23493"/>
                  <a:pt x="2606040" y="18288"/>
                </a:cubicBezTo>
                <a:cubicBezTo>
                  <a:pt x="2422256" y="13084"/>
                  <a:pt x="2161816" y="17045"/>
                  <a:pt x="1889379" y="18288"/>
                </a:cubicBezTo>
                <a:cubicBezTo>
                  <a:pt x="1616942" y="19531"/>
                  <a:pt x="1456938" y="28545"/>
                  <a:pt x="1335595" y="18288"/>
                </a:cubicBezTo>
                <a:cubicBezTo>
                  <a:pt x="1214252" y="8031"/>
                  <a:pt x="876335" y="26295"/>
                  <a:pt x="684085" y="18288"/>
                </a:cubicBezTo>
                <a:cubicBezTo>
                  <a:pt x="491835" y="10282"/>
                  <a:pt x="213058" y="3432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5544" y="2908005"/>
            <a:ext cx="3593410" cy="3259511"/>
          </a:xfrm>
        </p:spPr>
        <p:txBody>
          <a:bodyPr>
            <a:normAutofit fontScale="92500" lnSpcReduction="10000"/>
          </a:bodyPr>
          <a:lstStyle/>
          <a:p>
            <a:r>
              <a:rPr lang="en-US" sz="1800" dirty="0"/>
              <a:t>t-SNE embeddings show that learned graph embeddings cluster molecules by scaffold and solubility.</a:t>
            </a:r>
          </a:p>
          <a:p>
            <a:r>
              <a:rPr lang="en-US" sz="1800" dirty="0"/>
              <a:t>Substructure masking reveals that aromatic rings and heteroatom-rich fragments strongly influence predictions.</a:t>
            </a:r>
          </a:p>
          <a:p>
            <a:r>
              <a:rPr lang="en-US" sz="1800" dirty="0"/>
              <a:t>Trends align with chemistry: many ring systems and heavy hetero motifs reduce solubility; polar heteroatoms can increase it.</a:t>
            </a:r>
          </a:p>
        </p:txBody>
      </p:sp>
      <p:pic>
        <p:nvPicPr>
          <p:cNvPr id="4" name="Picture 3" descr="esol_gin_tsne_embedd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1463" y="519500"/>
            <a:ext cx="2897331" cy="2220740"/>
          </a:xfrm>
          <a:prstGeom prst="rect">
            <a:avLst/>
          </a:prstGeom>
        </p:spPr>
      </p:pic>
      <p:pic>
        <p:nvPicPr>
          <p:cNvPr id="5" name="Picture 4" descr="esol_mpnn_tsne_embedd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346" y="1294095"/>
            <a:ext cx="2859544" cy="2230186"/>
          </a:xfrm>
          <a:prstGeom prst="rect">
            <a:avLst/>
          </a:prstGeom>
        </p:spPr>
      </p:pic>
      <p:pic>
        <p:nvPicPr>
          <p:cNvPr id="6" name="Picture 5" descr="substructure_mask_ESOL_g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7751" y="3734864"/>
            <a:ext cx="3629677" cy="242632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0"/>
            <a:ext cx="8375586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76" y="548640"/>
            <a:ext cx="7626096" cy="1179576"/>
          </a:xfrm>
        </p:spPr>
        <p:txBody>
          <a:bodyPr>
            <a:normAutofit/>
          </a:bodyPr>
          <a:lstStyle/>
          <a:p>
            <a:r>
              <a:rPr lang="en-US" sz="3500"/>
              <a:t>FINAL CONCLUSION &amp; TAKEAWAYS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75895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676" y="2481943"/>
            <a:ext cx="7626096" cy="3695020"/>
          </a:xfrm>
        </p:spPr>
        <p:txBody>
          <a:bodyPr>
            <a:normAutofit/>
          </a:bodyPr>
          <a:lstStyle/>
          <a:p>
            <a:r>
              <a:rPr lang="en-US" sz="1900"/>
              <a:t>Data used: ESOL dataset with 1128 molecules and aqueous solubility (logS) targets, split into train/val/test.</a:t>
            </a:r>
          </a:p>
          <a:p>
            <a:r>
              <a:rPr lang="en-US" sz="1900"/>
              <a:t>Goal: compare GIN and MPNN to Ridge and Random Forest under random and scaffold splits with a reproducible pipeline.</a:t>
            </a:r>
          </a:p>
          <a:p>
            <a:r>
              <a:rPr lang="en-US" sz="1900"/>
              <a:t>Train–test split: both random and Bemis–Murcko scaffold splits, with shared indices across all models.</a:t>
            </a:r>
          </a:p>
          <a:p>
            <a:r>
              <a:rPr lang="en-US" sz="1900"/>
              <a:t>Results: GIN is the best overall model, especially on the scaffold split, outperforming classical baselines.</a:t>
            </a:r>
          </a:p>
          <a:p>
            <a:r>
              <a:rPr lang="en-US" sz="1900"/>
              <a:t>Conclusion: for small, scaffold-structured datasets like ESOL, a well-regularized, moderate-depth GIN offers an excellent balance of accuracy, stability, and interpretability.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5818" y="0"/>
            <a:ext cx="7472363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0"/>
            <a:ext cx="7461504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315584-AD8F-B1B2-5B63-CAC63FE41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2" y="1999615"/>
            <a:ext cx="6858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63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 &amp; 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88920" y="5524786"/>
            <a:ext cx="356616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90826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Molecular Property Prediction with Graph Neural Networks on ESOL</vt:lpstr>
      <vt:lpstr>DATA USED – ESOL SOLUBILITY BENCHMARK</vt:lpstr>
      <vt:lpstr>GOAL OF THE PROJECT</vt:lpstr>
      <vt:lpstr>TRAIN–TEST SPLITS – RANDOM VS. SCAFFOLD</vt:lpstr>
      <vt:lpstr>RESULTS – OVERALL PERFORMANCE ON ESOL</vt:lpstr>
      <vt:lpstr>RESULTS – DEPTH &amp; ABLATIONS (GIN VS. MPNN)</vt:lpstr>
      <vt:lpstr>RESULTS – INTERPRETABILITY (EMBEDDINGS &amp; SUBSTRUCTURES)</vt:lpstr>
      <vt:lpstr>FINAL CONCLUSION &amp; TAKEAWAYS</vt:lpstr>
      <vt:lpstr>Q &amp; 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38</cp:revision>
  <dcterms:created xsi:type="dcterms:W3CDTF">2013-01-27T09:14:16Z</dcterms:created>
  <dcterms:modified xsi:type="dcterms:W3CDTF">2025-12-01T17:03:02Z</dcterms:modified>
  <cp:category/>
</cp:coreProperties>
</file>